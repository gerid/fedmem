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E2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279400"/>
          </a:xfrm>
          <a:prstGeom prst="rect">
            <a:avLst/>
          </a:prstGeom>
          <a:solidFill>
            <a:srgbClr val="C8781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85800" y="1219200"/>
            <a:ext cx="9906000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When Does Concept-Level Aggregation Help?</a:t>
            </a:r>
            <a:endParaRPr lang="en-US" altLang="en-US" sz="2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85800" y="1803400"/>
            <a:ext cx="9652000" cy="321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 Sharp Characterization in a Canonical Federated Model</a:t>
            </a:r>
            <a:endParaRPr lang="en-US" altLang="en-US" sz="15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85800" y="2692400"/>
            <a:ext cx="9652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000" b="1">
                <a:solidFill>
                  <a:srgbClr val="F2F5F7"/>
                </a:solidFill>
                <a:latin typeface="微软雅黑" panose="020B0503020204020204" charset="-122"/>
                <a:ea typeface="微软雅黑" panose="020B0503020204020204" charset="-122"/>
              </a:rPr>
              <a:t>汇报主题：联邦概念漂移下的聚合粒度理论</a:t>
            </a:r>
            <a:endParaRPr lang="en-US" altLang="en-US" sz="2000" b="1">
              <a:solidFill>
                <a:srgbClr val="F2F5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85800" y="3276600"/>
            <a:ext cx="9906000" cy="321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500">
                <a:solidFill>
                  <a:srgbClr val="F2F5F7"/>
                </a:solidFill>
                <a:latin typeface="微软雅黑" panose="020B0503020204020204" charset="-122"/>
                <a:ea typeface="微软雅黑" panose="020B0503020204020204" charset="-122"/>
              </a:rPr>
              <a:t>主线：不是讲怎么分组，而是讲什么时候值得分组。</a:t>
            </a:r>
            <a:endParaRPr lang="en-US" altLang="en-US" sz="1500">
              <a:solidFill>
                <a:srgbClr val="F2F5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85800" y="5943600"/>
            <a:ext cx="3810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000">
                <a:solidFill>
                  <a:srgbClr val="F2F5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基于最新版 main final / main.tex 整理</a:t>
            </a:r>
            <a:endParaRPr lang="en-US" altLang="en-US" sz="1000">
              <a:solidFill>
                <a:srgbClr val="F2F5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201400" y="6350000"/>
            <a:ext cx="508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000">
                <a:solidFill>
                  <a:srgbClr val="F2F5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1 页</a:t>
            </a:r>
            <a:endParaRPr lang="en-US" altLang="en-US" sz="1000">
              <a:solidFill>
                <a:srgbClr val="F2F5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5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145A8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228600"/>
            <a:ext cx="228600" cy="6629400"/>
          </a:xfrm>
          <a:prstGeom prst="rect">
            <a:avLst/>
          </a:prstGeom>
          <a:solidFill>
            <a:srgbClr val="0F1E2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57200" y="330200"/>
            <a:ext cx="2159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0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问题背景</a:t>
            </a:r>
            <a:endParaRPr lang="en-US" altLang="en-US" sz="100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430000" y="6413500"/>
            <a:ext cx="508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en-US" altLang="en-US" sz="10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en-US" sz="100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57200" y="711200"/>
            <a:ext cx="1092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 b="1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</a:rPr>
              <a:t>联邦概念漂移下，服务端到底该怎么聚合？</a:t>
            </a:r>
            <a:endParaRPr lang="en-US" altLang="en-US" sz="2400" b="1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08000" y="1905000"/>
            <a:ext cx="5207000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223000" y="1905000"/>
            <a:ext cx="5207000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87400" y="2235200"/>
            <a:ext cx="2794000" cy="383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900" b="1">
                <a:solidFill>
                  <a:srgbClr val="0F1E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策略 A：全局聚合</a:t>
            </a:r>
            <a:endParaRPr lang="en-US" altLang="en-US" sz="1900" b="1">
              <a:solidFill>
                <a:srgbClr val="0F1E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87400" y="2717800"/>
            <a:ext cx="4445000" cy="875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AutoNum type="arabicPeriod"/>
            </a:pPr>
            <a:r>
              <a:rPr lang="en-US" altLang="en-US" sz="1700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</a:rPr>
              <a:t>把所有客户端统一合成一个模型</a:t>
            </a:r>
            <a:endParaRPr lang="en-US" altLang="en-US" sz="1700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AutoNum type="arabicPeriod"/>
            </a:pPr>
            <a:r>
              <a:rPr lang="en-US" altLang="en-US" sz="1700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</a:rPr>
              <a:t>优点：样本多，方差低</a:t>
            </a:r>
            <a:endParaRPr lang="en-US" altLang="en-US" sz="1700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AutoNum type="arabicPeriod"/>
            </a:pPr>
            <a:r>
              <a:rPr lang="en-US" altLang="en-US" sz="1700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</a:rPr>
              <a:t>缺点：不同概念混在一起会产生干扰偏差</a:t>
            </a:r>
            <a:endParaRPr lang="en-US" altLang="en-US" sz="1700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502400" y="2235200"/>
            <a:ext cx="3048000" cy="383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900" b="1">
                <a:solidFill>
                  <a:srgbClr val="0F1E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策略 B：概念级聚合</a:t>
            </a:r>
            <a:endParaRPr lang="en-US" altLang="en-US" sz="1900" b="1">
              <a:solidFill>
                <a:srgbClr val="0F1E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502400" y="2717800"/>
            <a:ext cx="4318000" cy="875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AutoNum type="arabicPeriod"/>
            </a:pPr>
            <a:r>
              <a:rPr lang="en-US" altLang="en-US" sz="1700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</a:rPr>
              <a:t>按概念组分别建模</a:t>
            </a:r>
            <a:endParaRPr lang="en-US" altLang="en-US" sz="1700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AutoNum type="arabicPeriod"/>
            </a:pPr>
            <a:r>
              <a:rPr lang="en-US" altLang="en-US" sz="1700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</a:rPr>
              <a:t>优点：避免跨概念干扰</a:t>
            </a:r>
            <a:endParaRPr lang="en-US" altLang="en-US" sz="1700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AutoNum type="arabicPeriod"/>
            </a:pPr>
            <a:r>
              <a:rPr lang="en-US" altLang="en-US" sz="1700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</a:rPr>
              <a:t>缺点：每组样本少，方差升高</a:t>
            </a:r>
            <a:endParaRPr lang="en-US" altLang="en-US" sz="1700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60400" y="5715000"/>
            <a:ext cx="76200" cy="355600"/>
          </a:xfrm>
          <a:prstGeom prst="rect">
            <a:avLst/>
          </a:prstGeom>
          <a:solidFill>
            <a:srgbClr val="C8781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38200" y="5664200"/>
            <a:ext cx="10414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600" b="1">
                <a:solidFill>
                  <a:srgbClr val="0F1E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核心矛盾：global pooling 降低方差，但 concept-level aggregation 降低偏差。</a:t>
            </a:r>
            <a:endParaRPr lang="en-US" altLang="en-US" sz="1600" b="1">
              <a:solidFill>
                <a:srgbClr val="0F1E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5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145A8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228600"/>
            <a:ext cx="228600" cy="6629400"/>
          </a:xfrm>
          <a:prstGeom prst="rect">
            <a:avLst/>
          </a:prstGeom>
          <a:solidFill>
            <a:srgbClr val="0F1E2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57200" y="330200"/>
            <a:ext cx="2159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0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研究问题</a:t>
            </a:r>
            <a:endParaRPr lang="en-US" altLang="en-US" sz="100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430000" y="6413500"/>
            <a:ext cx="508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en-US" altLang="en-US" sz="10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en-US" sz="100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57200" y="711200"/>
            <a:ext cx="1092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 b="1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</a:rPr>
              <a:t>不是讲怎么分组，而是讲什么时候值得分组</a:t>
            </a:r>
            <a:endParaRPr lang="en-US" altLang="en-US" sz="2400" b="1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09600" y="1981200"/>
            <a:ext cx="107950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914400" y="2489200"/>
            <a:ext cx="99822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AutoNum type="arabicPeriod"/>
            </a:pPr>
            <a:r>
              <a:rPr lang="en-US" altLang="en-US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IFCA、CFL 关注 how to cluster：给定要分组，如何恢复正确簇结构</a:t>
            </a:r>
            <a:endParaRPr lang="en-US" altLang="en-US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AutoNum type="arabicPeriod"/>
            </a:pPr>
            <a:r>
              <a:rPr lang="en-US" altLang="en-US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APFL、Ditto 关注 how to interpolate：如何在局部和全局模型间混合</a:t>
            </a:r>
            <a:endParaRPr lang="en-US" altLang="en-US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AutoNum type="arabicPeriod"/>
            </a:pPr>
            <a:r>
              <a:rPr lang="en-US" altLang="en-US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本文追问的是 when to cluster：按概念分组的收益，何时能超过方差代价</a:t>
            </a:r>
            <a:endParaRPr lang="en-US" altLang="en-US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60400" y="5588000"/>
            <a:ext cx="76200" cy="355600"/>
          </a:xfrm>
          <a:prstGeom prst="rect">
            <a:avLst/>
          </a:prstGeom>
          <a:solidFill>
            <a:srgbClr val="C8781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38200" y="5537200"/>
            <a:ext cx="10414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600" b="1">
                <a:solidFill>
                  <a:srgbClr val="0F1E2B"/>
                </a:solidFill>
                <a:latin typeface="微软雅黑" panose="020B0503020204020204" charset="-122"/>
                <a:ea typeface="微软雅黑" panose="020B0503020204020204" charset="-122"/>
              </a:rPr>
              <a:t>关键点：给出一个明确阈值，判断什么时候该做概念级聚合。</a:t>
            </a:r>
            <a:endParaRPr lang="en-US" altLang="en-US" sz="1600" b="1">
              <a:solidFill>
                <a:srgbClr val="0F1E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5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145A8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228600"/>
            <a:ext cx="228600" cy="6629400"/>
          </a:xfrm>
          <a:prstGeom prst="rect">
            <a:avLst/>
          </a:prstGeom>
          <a:solidFill>
            <a:srgbClr val="0F1E2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57200" y="330200"/>
            <a:ext cx="2159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0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理论设定</a:t>
            </a:r>
            <a:endParaRPr lang="en-US" altLang="en-US" sz="100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430000" y="6413500"/>
            <a:ext cx="508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en-US" altLang="en-US" sz="10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en-US" sz="100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57200" y="711200"/>
            <a:ext cx="1092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 b="1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Canonical 设定：先把最关键的统计矛盾单独剥离出来</a:t>
            </a:r>
            <a:endParaRPr lang="en-US" altLang="en-US" sz="2400" b="1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09600" y="1905000"/>
            <a:ext cx="5080000" cy="370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045200" y="1905000"/>
            <a:ext cx="5359400" cy="370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914400" y="2235200"/>
            <a:ext cx="1905000" cy="383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900" b="1">
                <a:solidFill>
                  <a:srgbClr val="0F1E2B"/>
                </a:solidFill>
                <a:latin typeface="微软雅黑" panose="020B0503020204020204" charset="-122"/>
                <a:ea typeface="微软雅黑" panose="020B0503020204020204" charset="-122"/>
              </a:rPr>
              <a:t>问题设定</a:t>
            </a:r>
            <a:endParaRPr lang="en-US" altLang="en-US" sz="1900" b="1">
              <a:solidFill>
                <a:srgbClr val="0F1E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14400" y="2717800"/>
            <a:ext cx="4191000" cy="11372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AutoNum type="arabicPeriod"/>
            </a:pPr>
            <a:r>
              <a:rPr lang="en-US" altLang="en-US" sz="1700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 个客户端，C 个平衡概念</a:t>
            </a:r>
            <a:endParaRPr lang="en-US" altLang="en-US" sz="1700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AutoNum type="arabicPeriod"/>
            </a:pPr>
            <a:r>
              <a:rPr lang="en-US" altLang="en-US" sz="1700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高斯线性回归，x ~ N(0, I_d)</a:t>
            </a:r>
            <a:endParaRPr lang="en-US" altLang="en-US" sz="1700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AutoNum type="arabicPeriod"/>
            </a:pPr>
            <a:r>
              <a:rPr lang="en-US" altLang="en-US" sz="1700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每个概念有最优参数 w*_j</a:t>
            </a:r>
            <a:endParaRPr lang="en-US" altLang="en-US" sz="1700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AutoNum type="arabicPeriod"/>
            </a:pPr>
            <a:r>
              <a:rPr lang="en-US" altLang="en-US" sz="1700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假设 oracle concept labels 已知</a:t>
            </a:r>
            <a:endParaRPr lang="en-US" altLang="en-US" sz="1700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350000" y="2235200"/>
            <a:ext cx="1905000" cy="383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900" b="1">
                <a:solidFill>
                  <a:srgbClr val="0F1E2B"/>
                </a:solidFill>
                <a:latin typeface="微软雅黑" panose="020B0503020204020204" charset="-122"/>
                <a:ea typeface="微软雅黑" panose="020B0503020204020204" charset="-122"/>
              </a:rPr>
              <a:t>风险分解</a:t>
            </a:r>
            <a:endParaRPr lang="en-US" altLang="en-US" sz="1900" b="1">
              <a:solidFill>
                <a:srgbClr val="0F1E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350000" y="2743200"/>
            <a:ext cx="4191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b="1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</a:rPr>
              <a:t>Global risk = B_j^2 + sigma^2 d / (Kn)</a:t>
            </a:r>
            <a:endParaRPr lang="en-US" altLang="en-US" b="1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350000" y="3200400"/>
            <a:ext cx="4191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b="1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</a:rPr>
              <a:t>Concept risk = sigma^2 d / ((K/C)n)</a:t>
            </a:r>
            <a:endParaRPr lang="en-US" altLang="en-US" b="1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350000" y="3784600"/>
            <a:ext cx="43180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AutoNum type="arabicPeriod"/>
            </a:pPr>
            <a:r>
              <a:rPr lang="en-US" altLang="en-US" sz="1600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B_j^2：概念 j 相对全局中心的偏差</a:t>
            </a:r>
            <a:endParaRPr lang="en-US" altLang="en-US" sz="1600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AutoNum type="arabicPeriod"/>
            </a:pPr>
            <a:r>
              <a:rPr lang="en-US" altLang="en-US" sz="1600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全局模型偏差更大，但方差更小</a:t>
            </a:r>
            <a:endParaRPr lang="en-US" altLang="en-US" sz="1600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AutoNum type="arabicPeriod"/>
            </a:pPr>
            <a:r>
              <a:rPr lang="en-US" altLang="en-US" sz="1600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概念模型偏差更小，但方差更大</a:t>
            </a:r>
            <a:endParaRPr lang="en-US" altLang="en-US" sz="1600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5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145A8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228600"/>
            <a:ext cx="228600" cy="6629400"/>
          </a:xfrm>
          <a:prstGeom prst="rect">
            <a:avLst/>
          </a:prstGeom>
          <a:solidFill>
            <a:srgbClr val="0F1E2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57200" y="330200"/>
            <a:ext cx="2159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0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主定理</a:t>
            </a:r>
            <a:endParaRPr lang="en-US" altLang="en-US" sz="100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430000" y="6413500"/>
            <a:ext cx="508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en-US" altLang="en-US" sz="10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en-US" sz="100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57200" y="711200"/>
            <a:ext cx="1092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 b="1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</a:rPr>
              <a:t>主结论：概念级聚合是否更优，取决于一个明确阈值</a:t>
            </a:r>
            <a:endParaRPr lang="en-US" altLang="en-US" sz="2400" b="1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92200" y="1854200"/>
            <a:ext cx="9855200" cy="1498600"/>
          </a:xfrm>
          <a:prstGeom prst="rect">
            <a:avLst/>
          </a:prstGeom>
          <a:solidFill>
            <a:srgbClr val="F2F8FF"/>
          </a:solidFill>
          <a:ln w="12700">
            <a:solidFill>
              <a:srgbClr val="D8DDE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235200" y="2235200"/>
            <a:ext cx="6604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 b="1">
                <a:solidFill>
                  <a:srgbClr val="0F1E2B"/>
                </a:solidFill>
                <a:latin typeface="微软雅黑" panose="020B0503020204020204" charset="-122"/>
                <a:ea typeface="微软雅黑" panose="020B0503020204020204" charset="-122"/>
              </a:rPr>
              <a:t>SNR = Kn · B_j^2 / (σ^2 d)</a:t>
            </a:r>
            <a:endParaRPr lang="en-US" altLang="en-US" sz="2400" b="1">
              <a:solidFill>
                <a:srgbClr val="0F1E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447800" y="2717800"/>
            <a:ext cx="889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b="1">
                <a:solidFill>
                  <a:srgbClr val="C878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 SNR &gt; C - 1 时，concept-level aggregation 优于 global aggregation</a:t>
            </a:r>
            <a:endParaRPr lang="en-US" altLang="en-US" b="1">
              <a:solidFill>
                <a:srgbClr val="C878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09600" y="3733800"/>
            <a:ext cx="107950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914400" y="4114800"/>
            <a:ext cx="10033000" cy="11372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AutoNum type="arabicPeriod"/>
            </a:pPr>
            <a:r>
              <a:rPr lang="en-US" altLang="en-US" sz="1700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B_j^2 越大：概念分离越明显，混合偏差越大，更该分组</a:t>
            </a:r>
            <a:endParaRPr lang="en-US" altLang="en-US" sz="1700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AutoNum type="arabicPeriod"/>
            </a:pPr>
            <a:r>
              <a:rPr lang="en-US" altLang="en-US" sz="1700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 和 n 越大：总样本越多，越能支撑按概念建模</a:t>
            </a:r>
            <a:endParaRPr lang="en-US" altLang="en-US" sz="1700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AutoNum type="arabicPeriod"/>
            </a:pPr>
            <a:r>
              <a:rPr lang="en-US" altLang="en-US" sz="1700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σ^2 越大、d 越高：噪声和维度惩罚越强，更倾向全局聚合</a:t>
            </a:r>
            <a:endParaRPr lang="en-US" altLang="en-US" sz="1700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AutoNum type="arabicPeriod"/>
            </a:pPr>
            <a:r>
              <a:rPr lang="en-US" altLang="en-US" sz="1700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越大：每组分到的样本越少，概念级方差惩罚越重</a:t>
            </a:r>
            <a:endParaRPr lang="en-US" altLang="en-US" sz="1700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5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145A8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228600"/>
            <a:ext cx="228600" cy="6629400"/>
          </a:xfrm>
          <a:prstGeom prst="rect">
            <a:avLst/>
          </a:prstGeom>
          <a:solidFill>
            <a:srgbClr val="0F1E2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57200" y="330200"/>
            <a:ext cx="2159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0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理论贡献</a:t>
            </a:r>
            <a:endParaRPr lang="en-US" altLang="en-US" sz="100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430000" y="6413500"/>
            <a:ext cx="508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en-US" altLang="en-US" sz="10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en-US" sz="100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57200" y="711200"/>
            <a:ext cx="1092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 b="1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</a:rPr>
              <a:t>除了阈值，作者还给了下界证明和一个折中方案</a:t>
            </a:r>
            <a:endParaRPr lang="en-US" altLang="en-US" sz="2400" b="1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09600" y="1955800"/>
            <a:ext cx="49784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867400" y="1955800"/>
            <a:ext cx="55372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889000" y="2311400"/>
            <a:ext cx="3048000" cy="383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900" b="1">
                <a:solidFill>
                  <a:srgbClr val="0F1E2B"/>
                </a:solidFill>
                <a:latin typeface="微软雅黑" panose="020B0503020204020204" charset="-122"/>
                <a:ea typeface="微软雅黑" panose="020B0503020204020204" charset="-122"/>
              </a:rPr>
              <a:t>Minimax lower bounds</a:t>
            </a:r>
            <a:endParaRPr lang="en-US" altLang="en-US" sz="1900" b="1">
              <a:solidFill>
                <a:srgbClr val="0F1E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89000" y="2794000"/>
            <a:ext cx="4191000" cy="11372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AutoNum type="arabicPeriod"/>
            </a:pPr>
            <a:r>
              <a:rPr lang="en-US" altLang="en-US" sz="1700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单一全局估计器无法绕开 bias floor</a:t>
            </a:r>
            <a:endParaRPr lang="en-US" altLang="en-US" sz="1700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AutoNum type="arabicPeriod"/>
            </a:pPr>
            <a:r>
              <a:rPr lang="en-US" altLang="en-US" sz="1700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概念级估计器无法绕开 variance floor</a:t>
            </a:r>
            <a:endParaRPr lang="en-US" altLang="en-US" sz="1700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AutoNum type="arabicPeriod"/>
            </a:pPr>
            <a:r>
              <a:rPr lang="en-US" altLang="en-US" sz="1700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说明二者张力是结构性的，不是调参问题</a:t>
            </a:r>
            <a:endParaRPr lang="en-US" altLang="en-US" sz="1700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146800" y="2311400"/>
            <a:ext cx="3556000" cy="383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900" b="1">
                <a:solidFill>
                  <a:srgbClr val="0F1E2B"/>
                </a:solidFill>
                <a:latin typeface="微软雅黑" panose="020B0503020204020204" charset="-122"/>
                <a:ea typeface="微软雅黑" panose="020B0503020204020204" charset="-122"/>
              </a:rPr>
              <a:t>Empirical-Bayes shrinkage</a:t>
            </a:r>
            <a:endParaRPr lang="en-US" altLang="en-US" sz="1900" b="1">
              <a:solidFill>
                <a:srgbClr val="0F1E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146800" y="2794000"/>
            <a:ext cx="4064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000" b="1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</a:rPr>
              <a:t>w_shrink = (1 - λ) w_j + λ w_bar</a:t>
            </a:r>
            <a:endParaRPr lang="en-US" altLang="en-US" sz="2000" b="1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146800" y="3352800"/>
            <a:ext cx="4445000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AutoNum type="arabicPeriod"/>
            </a:pPr>
            <a:r>
              <a:rPr lang="en-US" altLang="en-US" sz="1600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概念差异大时，λ 更小，更接近概念级聚合</a:t>
            </a:r>
            <a:endParaRPr lang="en-US" altLang="en-US" sz="1600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AutoNum type="arabicPeriod"/>
            </a:pPr>
            <a:r>
              <a:rPr lang="en-US" altLang="en-US" sz="1600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概念差异小或样本不足时，λ 更大，更接近全局聚合</a:t>
            </a:r>
            <a:endParaRPr lang="en-US" altLang="en-US" sz="1600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AutoNum type="arabicPeriod"/>
            </a:pPr>
            <a:r>
              <a:rPr lang="en-US" altLang="en-US" sz="1600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λ 由数据自适应估计，无需额外手调</a:t>
            </a:r>
            <a:endParaRPr lang="en-US" altLang="en-US" sz="1600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60400" y="5638800"/>
            <a:ext cx="76200" cy="355600"/>
          </a:xfrm>
          <a:prstGeom prst="rect">
            <a:avLst/>
          </a:prstGeom>
          <a:solidFill>
            <a:srgbClr val="C8781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838200" y="5588000"/>
            <a:ext cx="10414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600" b="1">
                <a:solidFill>
                  <a:srgbClr val="0F1E2B"/>
                </a:solidFill>
                <a:latin typeface="微软雅黑" panose="020B0503020204020204" charset="-122"/>
                <a:ea typeface="微软雅黑" panose="020B0503020204020204" charset="-122"/>
              </a:rPr>
              <a:t>不只是在做理论判断，也给了一个可操作的估计器。</a:t>
            </a:r>
            <a:endParaRPr lang="en-US" altLang="en-US" sz="1600" b="1">
              <a:solidFill>
                <a:srgbClr val="0F1E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5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145A8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228600"/>
            <a:ext cx="228600" cy="6629400"/>
          </a:xfrm>
          <a:prstGeom prst="rect">
            <a:avLst/>
          </a:prstGeom>
          <a:solidFill>
            <a:srgbClr val="0F1E2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57200" y="330200"/>
            <a:ext cx="2159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0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合成实验</a:t>
            </a:r>
            <a:endParaRPr lang="en-US" altLang="en-US" sz="100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430000" y="6413500"/>
            <a:ext cx="508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en-US" altLang="en-US" sz="10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lang="en-US" altLang="en-US" sz="100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57200" y="711200"/>
            <a:ext cx="1092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 b="1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</a:rPr>
              <a:t>合成实验基本把阈值关系跑出来了</a:t>
            </a:r>
            <a:endParaRPr lang="en-US" altLang="en-US" sz="2400" b="1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图片 7" descr="phase_diagr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400" y="1905000"/>
            <a:ext cx="4927600" cy="3022600"/>
          </a:xfrm>
          <a:prstGeom prst="rect">
            <a:avLst/>
          </a:prstGeom>
        </p:spPr>
      </p:pic>
      <p:pic>
        <p:nvPicPr>
          <p:cNvPr id="9" name="图片 8" descr="best_metho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1905000"/>
            <a:ext cx="4927600" cy="302260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660400" y="5130800"/>
            <a:ext cx="101346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89000" y="5308600"/>
            <a:ext cx="965200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AutoNum type="arabicPeriod"/>
            </a:pPr>
            <a:r>
              <a:rPr lang="en-US" altLang="en-US" sz="1400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Theory-experiment alignment = 99/108 = 91.7%，所有 mismatch 都集中在边界附近</a:t>
            </a:r>
            <a:endParaRPr lang="en-US" altLang="en-US" sz="1400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AutoNum type="arabicPeriod"/>
            </a:pPr>
            <a:r>
              <a:rPr lang="en-US" altLang="en-US" sz="1400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Shrinkage 获得 67 次 best-by-MSE，并且在 78/108 = 72.2% 配置中优于两种纯策略</a:t>
            </a:r>
            <a:endParaRPr lang="en-US" altLang="en-US" sz="1400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AutoNum type="arabicPeriod"/>
            </a:pPr>
            <a:r>
              <a:rPr lang="en-US" altLang="en-US" sz="1400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Mean regret = -0.002，worst-case excess &lt; 0.08，说明插值策略稳健</a:t>
            </a:r>
            <a:endParaRPr lang="en-US" altLang="en-US" sz="1400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5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145A8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228600"/>
            <a:ext cx="228600" cy="6629400"/>
          </a:xfrm>
          <a:prstGeom prst="rect">
            <a:avLst/>
          </a:prstGeom>
          <a:solidFill>
            <a:srgbClr val="0F1E2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57200" y="330200"/>
            <a:ext cx="2159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0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机制解释</a:t>
            </a:r>
            <a:endParaRPr lang="en-US" altLang="en-US" sz="100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430000" y="6413500"/>
            <a:ext cx="508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en-US" altLang="en-US" sz="10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lang="en-US" altLang="en-US" sz="100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57200" y="711200"/>
            <a:ext cx="1092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 b="1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</a:rPr>
              <a:t>概念刚切换的几轮，未必适合马上做概念级聚合</a:t>
            </a:r>
            <a:endParaRPr lang="en-US" altLang="en-US" sz="2400" b="1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图片 7" descr="regime_boundar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1981200"/>
            <a:ext cx="5029200" cy="320040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6096000" y="1981200"/>
            <a:ext cx="4927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426200" y="2514600"/>
            <a:ext cx="421640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AutoNum type="arabicPeriod"/>
            </a:pPr>
            <a:r>
              <a:rPr lang="en-US" altLang="en-US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长期看 SNR 高，不代表每一轮都应做概念级聚合</a:t>
            </a:r>
            <a:endParaRPr lang="en-US" altLang="en-US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AutoNum type="arabicPeriod"/>
            </a:pPr>
            <a:r>
              <a:rPr lang="en-US" altLang="en-US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刚发生概念切换时，有效样本数 n_eff(s) 还很小</a:t>
            </a:r>
            <a:endParaRPr lang="en-US" altLang="en-US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AutoNum type="arabicPeriod"/>
            </a:pPr>
            <a:r>
              <a:rPr lang="en-US" altLang="en-US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这会把瞬时有效 SNR 拉低到阈值以下</a:t>
            </a:r>
            <a:endParaRPr lang="en-US" altLang="en-US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AutoNum type="arabicPeriod"/>
            </a:pPr>
            <a:r>
              <a:rPr lang="en-US" altLang="en-US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因此在 transient 区间，FedAvg 可能暂时更好</a:t>
            </a:r>
            <a:endParaRPr lang="en-US" altLang="en-US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426200" y="4470400"/>
            <a:ext cx="41402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600" b="1">
                <a:solidFill>
                  <a:srgbClr val="0F1E2B"/>
                </a:solidFill>
                <a:latin typeface="微软雅黑" panose="020B0503020204020204" charset="-122"/>
                <a:ea typeface="微软雅黑" panose="020B0503020204020204" charset="-122"/>
              </a:rPr>
              <a:t>这相当于给出了非平稳场景里的过渡区间。</a:t>
            </a:r>
            <a:endParaRPr lang="en-US" altLang="en-US" sz="1600" b="1">
              <a:solidFill>
                <a:srgbClr val="0F1E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5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145A8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228600"/>
            <a:ext cx="228600" cy="6629400"/>
          </a:xfrm>
          <a:prstGeom prst="rect">
            <a:avLst/>
          </a:prstGeom>
          <a:solidFill>
            <a:srgbClr val="0F1E2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57200" y="330200"/>
            <a:ext cx="2159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0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真实数据桥接</a:t>
            </a:r>
            <a:endParaRPr lang="en-US" altLang="en-US" sz="100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430000" y="6413500"/>
            <a:ext cx="508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en-US" altLang="en-US" sz="10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endParaRPr lang="en-US" altLang="en-US" sz="100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57200" y="711200"/>
            <a:ext cx="1092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 b="1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CIFAR-100 bridge：最后问题落在有效维度估计上</a:t>
            </a:r>
            <a:endParaRPr lang="en-US" altLang="en-US" sz="2400" b="1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09600" y="1930400"/>
            <a:ext cx="10795000" cy="370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939800" y="2387600"/>
            <a:ext cx="9931400" cy="13989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AutoNum type="arabicPeriod"/>
            </a:pPr>
            <a:r>
              <a:rPr lang="en-US" altLang="en-US" sz="1700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在冻结 ResNet-18 特征上构造 B_j^2 proxy，测试高 SNR 与低 SNR 两侧</a:t>
            </a:r>
            <a:endParaRPr lang="en-US" altLang="en-US" sz="1700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AutoNum type="arabicPeriod"/>
            </a:pPr>
            <a:r>
              <a:rPr lang="en-US" altLang="en-US" sz="1700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 SNR（disjoint labels）下，Oracle 3/3 seed 全部占优，和理论一致</a:t>
            </a:r>
            <a:endParaRPr lang="en-US" altLang="en-US" sz="1700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AutoNum type="arabicPeriod"/>
            </a:pPr>
            <a:r>
              <a:rPr lang="en-US" altLang="en-US" sz="1700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 SNR（shared labels）下，若直接用原始维度 d = 128，会得到错误判断</a:t>
            </a:r>
            <a:endParaRPr lang="en-US" altLang="en-US" sz="1700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AutoNum type="arabicPeriod"/>
            </a:pPr>
            <a:r>
              <a:rPr lang="en-US" altLang="en-US" sz="1700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作者检查协方差谱后发现 effective rank 只有约 22，修正后 d_eff^corr ≈ 430</a:t>
            </a:r>
            <a:endParaRPr lang="en-US" altLang="en-US" sz="1700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AutoNum type="arabicPeriod"/>
            </a:pPr>
            <a:r>
              <a:rPr lang="en-US" altLang="en-US" sz="1700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做完 effective-dimension correction 后，CIFAR 两侧一共 6 个 seed 全部与理论方向一致</a:t>
            </a:r>
            <a:endParaRPr lang="en-US" altLang="en-US" sz="1700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60400" y="5613400"/>
            <a:ext cx="76200" cy="355600"/>
          </a:xfrm>
          <a:prstGeom prst="rect">
            <a:avLst/>
          </a:prstGeom>
          <a:solidFill>
            <a:srgbClr val="C8781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38200" y="5562600"/>
            <a:ext cx="10414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600" b="1">
                <a:solidFill>
                  <a:srgbClr val="0F1E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作者把这个不一致继续往下追，最后定位到 effective rank。</a:t>
            </a:r>
            <a:endParaRPr lang="en-US" altLang="en-US" sz="1600" b="1">
              <a:solidFill>
                <a:srgbClr val="0F1E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5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145A8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228600"/>
            <a:ext cx="228600" cy="6629400"/>
          </a:xfrm>
          <a:prstGeom prst="rect">
            <a:avLst/>
          </a:prstGeom>
          <a:solidFill>
            <a:srgbClr val="0F1E2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57200" y="330200"/>
            <a:ext cx="2159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0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评价与局限</a:t>
            </a:r>
            <a:endParaRPr lang="en-US" altLang="en-US" sz="100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430000" y="6413500"/>
            <a:ext cx="508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en-US" altLang="en-US" sz="10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lang="en-US" altLang="en-US" sz="100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57200" y="711200"/>
            <a:ext cx="1092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 b="1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</a:rPr>
              <a:t>贡献很清楚，但结论主要还是在理想设定里成立</a:t>
            </a:r>
            <a:endParaRPr lang="en-US" altLang="en-US" sz="2400" b="1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09600" y="1955800"/>
            <a:ext cx="5181600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172200" y="1955800"/>
            <a:ext cx="5232400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914400" y="2311400"/>
            <a:ext cx="2921000" cy="383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900" b="1">
                <a:solidFill>
                  <a:srgbClr val="0F1E2B"/>
                </a:solidFill>
                <a:latin typeface="微软雅黑" panose="020B0503020204020204" charset="-122"/>
                <a:ea typeface="微软雅黑" panose="020B0503020204020204" charset="-122"/>
              </a:rPr>
              <a:t>可以抓的三点贡献</a:t>
            </a:r>
            <a:endParaRPr lang="en-US" altLang="en-US" sz="1900" b="1">
              <a:solidFill>
                <a:srgbClr val="0F1E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14400" y="2794000"/>
            <a:ext cx="4191000" cy="13989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AutoNum type="arabicPeriod"/>
            </a:pPr>
            <a:r>
              <a:rPr lang="en-US" altLang="en-US" sz="1700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把问题从“怎么聚类”提升到“何时值得聚类”</a:t>
            </a:r>
            <a:endParaRPr lang="en-US" altLang="en-US" sz="1700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AutoNum type="arabicPeriod"/>
            </a:pPr>
            <a:r>
              <a:rPr lang="en-US" altLang="en-US" sz="1700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给出 sharp threshold 与 matching lower bounds</a:t>
            </a:r>
            <a:endParaRPr lang="en-US" altLang="en-US" sz="1700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AutoNum type="arabicPeriod"/>
            </a:pPr>
            <a:r>
              <a:rPr lang="en-US" altLang="en-US" sz="1700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提出可落地的 shrinkage 自适应策略</a:t>
            </a:r>
            <a:endParaRPr lang="en-US" altLang="en-US" sz="1700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477000" y="2311400"/>
            <a:ext cx="3048000" cy="383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900" b="1">
                <a:solidFill>
                  <a:srgbClr val="0F1E2B"/>
                </a:solidFill>
                <a:latin typeface="微软雅黑" panose="020B0503020204020204" charset="-122"/>
                <a:ea typeface="微软雅黑" panose="020B0503020204020204" charset="-122"/>
              </a:rPr>
              <a:t>需要诚实指出的局限</a:t>
            </a:r>
            <a:endParaRPr lang="en-US" altLang="en-US" sz="1900" b="1">
              <a:solidFill>
                <a:srgbClr val="0F1E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477000" y="2794000"/>
            <a:ext cx="429260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AutoNum type="arabicPeriod"/>
            </a:pPr>
            <a:r>
              <a:rPr lang="en-US" altLang="en-US" sz="1600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oracle concept labels 假设很强，现实里最难的是概念身份识别</a:t>
            </a:r>
            <a:endParaRPr lang="en-US" altLang="en-US" sz="1600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AutoNum type="arabicPeriod"/>
            </a:pPr>
            <a:r>
              <a:rPr lang="en-US" altLang="en-US" sz="1600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理论依赖高斯、线性、平衡概念、已知协方差等理想条件</a:t>
            </a:r>
            <a:endParaRPr lang="en-US" altLang="en-US" sz="1600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AutoNum type="arabicPeriod"/>
            </a:pPr>
            <a:r>
              <a:rPr lang="en-US" altLang="en-US" sz="1600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effective dimension 修正更像经验 bridge，不是严格推广</a:t>
            </a:r>
            <a:endParaRPr lang="en-US" altLang="en-US" sz="1600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60400" y="5613400"/>
            <a:ext cx="76200" cy="355600"/>
          </a:xfrm>
          <a:prstGeom prst="rect">
            <a:avLst/>
          </a:prstGeom>
          <a:solidFill>
            <a:srgbClr val="C8781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38200" y="5562600"/>
            <a:ext cx="10414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600" b="1">
                <a:solidFill>
                  <a:srgbClr val="0F1E2B"/>
                </a:solidFill>
                <a:latin typeface="微软雅黑" panose="020B0503020204020204" charset="-122"/>
                <a:ea typeface="微软雅黑" panose="020B0503020204020204" charset="-122"/>
              </a:rPr>
              <a:t>更合适的定位：一篇分析框架很强的理论论文。</a:t>
            </a:r>
            <a:endParaRPr lang="en-US" altLang="en-US" sz="1600" b="1">
              <a:solidFill>
                <a:srgbClr val="0F1E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5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145A8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228600"/>
            <a:ext cx="228600" cy="6629400"/>
          </a:xfrm>
          <a:prstGeom prst="rect">
            <a:avLst/>
          </a:prstGeom>
          <a:solidFill>
            <a:srgbClr val="0F1E2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57200" y="330200"/>
            <a:ext cx="2159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0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结论</a:t>
            </a:r>
            <a:endParaRPr lang="en-US" altLang="en-US" sz="100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430000" y="6413500"/>
            <a:ext cx="508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en-US" altLang="en-US" sz="10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r>
            <a:endParaRPr lang="en-US" altLang="en-US" sz="100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57200" y="711200"/>
            <a:ext cx="1092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 b="1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</a:rPr>
              <a:t>最后一句话</a:t>
            </a:r>
            <a:endParaRPr lang="en-US" altLang="en-US" sz="2400" b="1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65200" y="2082800"/>
            <a:ext cx="10007600" cy="2057400"/>
          </a:xfrm>
          <a:prstGeom prst="rect">
            <a:avLst/>
          </a:prstGeom>
          <a:solidFill>
            <a:srgbClr val="F2F8FF"/>
          </a:solidFill>
          <a:ln w="12700">
            <a:solidFill>
              <a:srgbClr val="D8DDE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498600" y="2565400"/>
            <a:ext cx="863600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100" b="1">
                <a:solidFill>
                  <a:srgbClr val="0F1E2B"/>
                </a:solidFill>
                <a:latin typeface="微软雅黑" panose="020B0503020204020204" charset="-122"/>
                <a:ea typeface="微软雅黑" panose="020B0503020204020204" charset="-122"/>
              </a:rPr>
              <a:t>Concept-level aggregation is useful only when concept separation</a:t>
            </a:r>
            <a:endParaRPr lang="en-US" altLang="en-US" sz="2100" b="1">
              <a:solidFill>
                <a:srgbClr val="0F1E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590800" y="2997200"/>
            <a:ext cx="635000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100" b="1">
                <a:solidFill>
                  <a:srgbClr val="0F1E2B"/>
                </a:solidFill>
                <a:latin typeface="微软雅黑" panose="020B0503020204020204" charset="-122"/>
                <a:ea typeface="微软雅黑" panose="020B0503020204020204" charset="-122"/>
              </a:rPr>
              <a:t>beats the extra variance cost caused by splitting.</a:t>
            </a:r>
            <a:endParaRPr lang="en-US" altLang="en-US" sz="2100" b="1">
              <a:solidFill>
                <a:srgbClr val="0F1E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524000" y="4572000"/>
            <a:ext cx="8890000" cy="116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879600" y="4902200"/>
            <a:ext cx="1905000" cy="3524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700" b="1">
                <a:solidFill>
                  <a:srgbClr val="C8781A"/>
                </a:solidFill>
                <a:latin typeface="微软雅黑" panose="020B0503020204020204" charset="-122"/>
                <a:ea typeface="微软雅黑" panose="020B0503020204020204" charset="-122"/>
              </a:rPr>
              <a:t>一句中文总结：</a:t>
            </a:r>
            <a:endParaRPr lang="en-US" altLang="en-US" sz="1700" b="1">
              <a:solidFill>
                <a:srgbClr val="C878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879600" y="5283200"/>
            <a:ext cx="8128000" cy="3524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700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</a:rPr>
              <a:t>分概念聚合不是默认更好，关键看概念分离收益能不能盖过方差代价。</a:t>
            </a:r>
            <a:endParaRPr lang="en-US" altLang="en-US" sz="1700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5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145A8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228600"/>
            <a:ext cx="228600" cy="6629400"/>
          </a:xfrm>
          <a:prstGeom prst="rect">
            <a:avLst/>
          </a:prstGeom>
          <a:solidFill>
            <a:srgbClr val="0F1E2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57200" y="330200"/>
            <a:ext cx="2159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0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备答</a:t>
            </a:r>
            <a:endParaRPr lang="en-US" altLang="en-US" sz="100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430000" y="6413500"/>
            <a:ext cx="508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en-US" altLang="en-US" sz="100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12</a:t>
            </a:r>
            <a:endParaRPr lang="en-US" altLang="en-US" sz="100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57200" y="711200"/>
            <a:ext cx="1092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 b="1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老师可能会问的 3 个问题</a:t>
            </a:r>
            <a:endParaRPr lang="en-US" altLang="en-US" sz="2400" b="1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09600" y="1955800"/>
            <a:ext cx="10795000" cy="370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939800" y="2514600"/>
            <a:ext cx="1003300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AutoNum type="arabicPeriod"/>
            </a:pPr>
            <a:r>
              <a:rPr lang="en-US" altLang="en-US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Q1：和 IFCA、APFL 的区别是什么？ A：本文研究的是聚合粒度决策边界，不是更强聚类算法。</a:t>
            </a:r>
            <a:endParaRPr lang="en-US" altLang="en-US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AutoNum type="arabicPeriod"/>
            </a:pPr>
            <a:r>
              <a:rPr lang="en-US" altLang="en-US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Q2：oracle label 假设太强，是否失去现实意义？ A：它的作用是先剥离概念识别误差，得到一个统计基准。</a:t>
            </a:r>
            <a:endParaRPr lang="en-US" altLang="en-US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AutoNum type="arabicPeriod"/>
            </a:pPr>
            <a:r>
              <a:rPr lang="en-US" altLang="en-US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Q3：CIFAR 的有效维度修正会不会太 ad hoc？ A：这是经验 bridge，说明方向可迁移，但不等于严格理论推广。</a:t>
            </a:r>
            <a:endParaRPr lang="en-US" altLang="en-US">
              <a:solidFill>
                <a:srgbClr val="2A2A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39800" y="4978400"/>
            <a:ext cx="99822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600" b="1">
                <a:solidFill>
                  <a:srgbClr val="0F1E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答辩时先承认假设强，再把重点拉回“什么时候值得分组”这个问题。</a:t>
            </a:r>
            <a:endParaRPr lang="en-US" altLang="en-US" sz="1600" b="1">
              <a:solidFill>
                <a:srgbClr val="0F1E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2550</Words>
  <Application>WPS 演示</Application>
  <PresentationFormat>宽屏</PresentationFormat>
  <Paragraphs>187</Paragraphs>
  <Slides>12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宋体</vt:lpstr>
      <vt:lpstr>Wingdings</vt:lpstr>
      <vt:lpstr>Wingdings</vt:lpstr>
      <vt:lpstr>Arial Unicode MS</vt:lpstr>
      <vt:lpstr>微软雅黑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91582</dc:creator>
  <cp:lastModifiedBy>fly</cp:lastModifiedBy>
  <cp:revision>157</cp:revision>
  <dcterms:created xsi:type="dcterms:W3CDTF">2019-06-19T02:08:00Z</dcterms:created>
  <dcterms:modified xsi:type="dcterms:W3CDTF">2026-03-23T00:40:03Z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853D92139FE743138E3FEC89244DE87A_11</vt:lpwstr>
  </property>
</Properties>
</file>